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70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24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Missions
completed</c:v>
                </c:pt>
                <c:pt idx="1">
                  <c:v>Cycle time
(ticks)</c:v>
                </c:pt>
                <c:pt idx="2">
                  <c:v>Distance /
mission</c:v>
                </c:pt>
                <c:pt idx="3">
                  <c:v>Run flats /
shift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16.149999999999999</c:v>
                </c:pt>
                <c:pt idx="1">
                  <c:v>142.75</c:v>
                </c:pt>
                <c:pt idx="2">
                  <c:v>85.43</c:v>
                </c:pt>
                <c:pt idx="3">
                  <c:v>3.45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B5-7745-81EA-2EABFA67CC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(Q Learning)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1F24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Missions
completed</c:v>
                </c:pt>
                <c:pt idx="1">
                  <c:v>Cycle time
(ticks)</c:v>
                </c:pt>
                <c:pt idx="2">
                  <c:v>Distance /
mission</c:v>
                </c:pt>
                <c:pt idx="3">
                  <c:v>Run flats /
shift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20.7</c:v>
                </c:pt>
                <c:pt idx="1">
                  <c:v>95.8</c:v>
                </c:pt>
                <c:pt idx="2">
                  <c:v>66.95</c:v>
                </c:pt>
                <c:pt idx="3">
                  <c:v>1.35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B5-7745-81EA-2EABFA67CC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s-MX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s-MX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72"/>
              </a:solidFill>
            </a:defRPr>
          </a:pPr>
          <a:endParaRPr lang="es-MX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03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0" y="914400"/>
            <a:ext cx="12161520" cy="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0" y="1828800"/>
            <a:ext cx="12161520" cy="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0" y="3657600"/>
            <a:ext cx="12161520" cy="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12161520" cy="0"/>
          </a:xfrm>
          <a:prstGeom prst="line">
            <a:avLst/>
          </a:prstGeom>
          <a:noFill/>
          <a:ln w="635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1295C">
              <a:alpha val="8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INTEGRATIVE CHALLENGE M4  ·  E80 GROUP LOGISTICS CASE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182880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Multi Agent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AGV Fleet Coordination</a:t>
            </a:r>
            <a:endParaRPr lang="en-US" sz="4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routing + Independent Q Learning for battery aware mission assignment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</a:t>
            </a:r>
          </a:p>
        </p:txBody>
      </p:sp>
      <p:sp>
        <p:nvSpPr>
          <p:cNvPr id="29" name="Text 27"/>
          <p:cNvSpPr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.gitignore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CASE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4 AGV fleet inside an e80 Group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centre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82296" cy="56692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m x 30 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167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centre, 1 m occupancy grid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82296" cy="56692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77240" y="27249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AGVs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production lines, racks and truck docks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666744"/>
            <a:ext cx="82296" cy="56692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777240" y="362102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chargers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9593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scarce, contested resource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562856"/>
            <a:ext cx="82296" cy="56692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777240" y="451713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 shift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48554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pedestrians and aisle closures arrive over time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1828800"/>
            <a:ext cx="66751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101600" dist="25400" dir="5400000" algn="bl" rotWithShape="0">
              <a:srgbClr val="8896A6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074920" y="1938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FLOOR PLAN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66360" y="2423160"/>
            <a:ext cx="914400" cy="64008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5166360" y="3474720"/>
            <a:ext cx="914400" cy="64008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5166360" y="4526280"/>
            <a:ext cx="914400" cy="64008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983480" y="55321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75120" y="2423160"/>
            <a:ext cx="438912" cy="1188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6675120" y="3840480"/>
            <a:ext cx="438912" cy="1188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7242048" y="2423160"/>
            <a:ext cx="438912" cy="1188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7242048" y="3840480"/>
            <a:ext cx="438912" cy="1188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7808976" y="2423160"/>
            <a:ext cx="438912" cy="1188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7808976" y="3840480"/>
            <a:ext cx="438912" cy="1188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6309360" y="5623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racks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921240" y="2423160"/>
            <a:ext cx="777240" cy="6400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9921240" y="3474720"/>
            <a:ext cx="777240" cy="6400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9921240" y="4526280"/>
            <a:ext cx="777240" cy="6400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9738360" y="55321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docks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23760" y="5074920"/>
            <a:ext cx="320040" cy="3200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7726680" y="5074920"/>
            <a:ext cx="320040" cy="3200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8229600" y="5074920"/>
            <a:ext cx="320040" cy="3200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6949440" y="53492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Chargers (x3)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309360" y="3017520"/>
            <a:ext cx="201168" cy="201168"/>
          </a:xfrm>
          <a:prstGeom prst="ellipse">
            <a:avLst/>
          </a:prstGeom>
          <a:solidFill>
            <a:srgbClr val="E6394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8138160" y="4114800"/>
            <a:ext cx="201168" cy="201168"/>
          </a:xfrm>
          <a:prstGeom prst="ellipse">
            <a:avLst/>
          </a:prstGeom>
          <a:solidFill>
            <a:srgbClr val="E6394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7"/>
          <p:cNvSpPr/>
          <p:nvPr/>
        </p:nvSpPr>
        <p:spPr>
          <a:xfrm>
            <a:off x="9418320" y="3291840"/>
            <a:ext cx="201168" cy="201168"/>
          </a:xfrm>
          <a:prstGeom prst="ellipse">
            <a:avLst/>
          </a:prstGeom>
          <a:solidFill>
            <a:srgbClr val="E6394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Shape 38"/>
          <p:cNvSpPr/>
          <p:nvPr/>
        </p:nvSpPr>
        <p:spPr>
          <a:xfrm>
            <a:off x="7040880" y="4846320"/>
            <a:ext cx="201168" cy="201168"/>
          </a:xfrm>
          <a:prstGeom prst="ellipse">
            <a:avLst/>
          </a:prstGeom>
          <a:solidFill>
            <a:srgbClr val="E6394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baseline rule based fleet fails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three linked 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  <a:effectLst>
            <a:outerShdw blurRad="88900" dist="25400" dir="5400000" algn="bl" rotWithShape="0">
              <a:srgbClr val="8896A6">
                <a:alpha val="2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04672" y="2240280"/>
            <a:ext cx="566928" cy="566928"/>
          </a:xfrm>
          <a:prstGeom prst="ellipse">
            <a:avLst/>
          </a:prstGeom>
          <a:solidFill>
            <a:srgbClr val="FDEEE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0" descr="icons/bolt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3774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926080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AGVs strand themselves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538728"/>
            <a:ext cx="30083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is checked only while Available, at a fixed 45% threshold. 3.55 run flat events per 400 tick shift, each a 25 tick tow.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4672" y="4892040"/>
            <a:ext cx="3008376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804672" y="49834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3.55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5413248"/>
            <a:ext cx="3008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flats / shift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89120" y="196596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  <a:effectLst>
            <a:outerShdw blurRad="88900" dist="25400" dir="5400000" algn="bl" rotWithShape="0">
              <a:srgbClr val="8896A6">
                <a:alpha val="2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4645152" y="2240280"/>
            <a:ext cx="566928" cy="566928"/>
          </a:xfrm>
          <a:prstGeom prst="ellipse">
            <a:avLst/>
          </a:prstGeom>
          <a:solidFill>
            <a:srgbClr val="FDEEE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4" name="Image 1" descr="icons/plug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37744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45152" y="2926080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Charging is all or nothing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4645152" y="3538728"/>
            <a:ext cx="30083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AGV charges only once it drops below threshold, then always to 100%, occupying one of only 3 chargers for a long block.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45152" y="4892040"/>
            <a:ext cx="3008376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4645152" y="49834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4645152" y="5413248"/>
            <a:ext cx="3008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chargers, shared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229600" y="196596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  <a:effectLst>
            <a:outerShdw blurRad="88900" dist="25400" dir="5400000" algn="bl" rotWithShape="0">
              <a:srgbClr val="8896A6">
                <a:alpha val="2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8485632" y="2240280"/>
            <a:ext cx="566928" cy="566928"/>
          </a:xfrm>
          <a:prstGeom prst="ellipse">
            <a:avLst/>
          </a:prstGeom>
          <a:solidFill>
            <a:srgbClr val="FDEEE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2" name="Image 2" descr="icons/target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2377440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485632" y="2926080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Bids ignore reachability</a:t>
            </a:r>
            <a:endParaRPr lang="en-US" sz="1550" dirty="0"/>
          </a:p>
        </p:txBody>
      </p:sp>
      <p:sp>
        <p:nvSpPr>
          <p:cNvPr id="24" name="Text 19"/>
          <p:cNvSpPr txBox="1"/>
          <p:nvPr/>
        </p:nvSpPr>
        <p:spPr>
          <a:xfrm>
            <a:off x="8485632" y="3538728"/>
            <a:ext cx="300837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bid mixes distance, battery and workload with hand picked weights. Nothing asks: after this mission, can I reach a charger?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485632" y="4892040"/>
            <a:ext cx="3008376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1"/>
          <p:cNvSpPr/>
          <p:nvPr/>
        </p:nvSpPr>
        <p:spPr>
          <a:xfrm>
            <a:off x="8485632" y="49834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w_d, w_b, w_l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8485632" y="5413248"/>
            <a:ext cx="3008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by hand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the same underlying issue: a decision whose cost is paid much later, in an environment shaped by three other independent agents.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we set out to answer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B2450"/>
          </a:solidFill>
          <a:ln w="1270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“Does the proposed intelligent strategy improve the performance of the Multi Agent System?”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21A44"/>
          </a:solidFill>
          <a:ln w="1270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49808" y="3520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4114800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4526280"/>
            <a:ext cx="22037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baseline's failures rather than assume them (Section 12).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33375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21A44"/>
          </a:solidFill>
          <a:ln w="1270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584448" y="3520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84448" y="4114800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4448" y="4526280"/>
            <a:ext cx="22037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fixed threshold rule with a learned, state aware policy.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33375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21A44"/>
          </a:solidFill>
          <a:ln w="1270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419088" y="3520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9088" y="4114800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19088" y="4526280"/>
            <a:ext cx="22037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both strategies under byte identical conditions, on unseen scenarios.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52560" y="33375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121A44"/>
          </a:solidFill>
          <a:ln w="12700">
            <a:solidFill>
              <a:srgbClr val="2E3A7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9253728" y="3520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253728" y="4114800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53728" y="4526280"/>
            <a:ext cx="22037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gains and tradeoffs together, not just the metrics that improved.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layers, two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answers “how do I get there?”  ·  Q Learning answers “what should I decide?”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14600" cy="27432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8896A6">
                <a:alpha val="2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476756" y="2377440"/>
            <a:ext cx="658368" cy="658368"/>
          </a:xfrm>
          <a:prstGeom prst="ellipse">
            <a:avLst/>
          </a:prstGeom>
          <a:solidFill>
            <a:srgbClr val="EAF2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0" descr="icons/warehous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04" y="25328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200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794760"/>
            <a:ext cx="2112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battery, pending missions, chargers, pedestrians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81528" y="3364992"/>
            <a:ext cx="274320" cy="219456"/>
          </a:xfrm>
          <a:prstGeom prst="rightArrow">
            <a:avLst/>
          </a:prstGeom>
          <a:solidFill>
            <a:srgbClr val="C7CFD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3383280" y="2103120"/>
            <a:ext cx="2514600" cy="27432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8896A6">
                <a:alpha val="2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4311396" y="2377440"/>
            <a:ext cx="658368" cy="658368"/>
          </a:xfrm>
          <a:prstGeom prst="ellipse">
            <a:avLst/>
          </a:prstGeom>
          <a:solidFill>
            <a:srgbClr val="EAF2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1" descr="icons/gears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844" y="253288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20440" y="3200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3584448" y="3794760"/>
            <a:ext cx="2112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to (battery, distance, backlog, reserve, parked)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16168" y="3364992"/>
            <a:ext cx="274320" cy="219456"/>
          </a:xfrm>
          <a:prstGeom prst="rightArrow">
            <a:avLst/>
          </a:prstGeom>
          <a:solidFill>
            <a:srgbClr val="C7CFD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6217920" y="2103120"/>
            <a:ext cx="2514600" cy="2743200"/>
          </a:xfrm>
          <a:prstGeom prst="roundRect">
            <a:avLst>
              <a:gd name="adj" fmla="val 327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88900" dist="25400" dir="5400000" algn="bl" rotWithShape="0">
              <a:srgbClr val="8896A6">
                <a:alpha val="2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7146036" y="2377440"/>
            <a:ext cx="658368" cy="658368"/>
          </a:xfrm>
          <a:prstGeom prst="ellipse">
            <a:avLst/>
          </a:prstGeom>
          <a:solidFill>
            <a:srgbClr val="2A365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9" name="Image 2" descr="icons/brain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1484" y="253288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55080" y="3200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Learning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6419088" y="3794760"/>
            <a:ext cx="2112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 max Q(s,a) over 4 legal actions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750808" y="3364992"/>
            <a:ext cx="274320" cy="219456"/>
          </a:xfrm>
          <a:prstGeom prst="rightArrow">
            <a:avLst/>
          </a:prstGeom>
          <a:solidFill>
            <a:srgbClr val="C7CFD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Shape 18"/>
          <p:cNvSpPr/>
          <p:nvPr/>
        </p:nvSpPr>
        <p:spPr>
          <a:xfrm>
            <a:off x="9052560" y="2103120"/>
            <a:ext cx="2514600" cy="27432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8896A6">
                <a:alpha val="2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9980676" y="2377440"/>
            <a:ext cx="658368" cy="658368"/>
          </a:xfrm>
          <a:prstGeom prst="ellipse">
            <a:avLst/>
          </a:prstGeom>
          <a:solidFill>
            <a:srgbClr val="EAF2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5" name="Image 3" descr="icons/route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6124" y="2532888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89720" y="32004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 routing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9253728" y="3794760"/>
            <a:ext cx="2112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4 connected path to the chosen target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BFS, not A* / Dijkstra: a 4 connected grid with uniform 1 m edge cost and 865 traversable cells; uniform cost Dijkstra degenerates into BFS, and A* only adds heuristic overhead.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THE LEARNED POLICY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State, actions and reward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96A6">
                <a:alpha val="2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22960" y="18928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·  288 possible states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86000" y="23774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charge bucket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212080" y="2377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86000" y="28346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route to closest mission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12080" y="28346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86000" y="32918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missions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12080" y="32918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86000" y="37490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left after full round trip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12080" y="37490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206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286000" y="42062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charger?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12080" y="42062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4709160"/>
            <a:ext cx="50292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822960" y="48463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reserve feature ties BFS to the decision: charge left over after pickup → drop off → nearest charger. Negative reserve means this mission strands the AGV.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5577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58978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822960" y="58978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BID_NEAREST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48840" y="58978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2148840" y="58978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BID_PRIORITY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0" y="58978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3474720" y="58978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58978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4800600" y="589788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GO_CHARGE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0" y="1691640"/>
            <a:ext cx="5212080" cy="2057400"/>
          </a:xfrm>
          <a:prstGeom prst="roundRect">
            <a:avLst>
              <a:gd name="adj" fmla="val 355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6675120" y="18928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 MDP REWARD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2258568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R_done · Δcompleted − c_tΔt − c_dΔcells − P_strand·Δflat − c_idleΔt·1[WAIT &amp; backlog]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675120" y="30632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only when the AGV returns to a decision point, so delayed consequences are charged to the decision that caused them.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397764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96A6">
                <a:alpha val="2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6675120" y="41788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DISCOUNT MATTERS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675120" y="45262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0.999</a:t>
            </a: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 tick, not the usual 0.99.
At γ = 0.99, a 60 tick mission's continuation value is multiplied by 0.99⁶⁰ ≈ 0.55, while a 1 tick WAIT keeps 0.99 of it; the policy learns to idle.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COORDINATION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fleet communicates and negotiates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96A6">
                <a:alpha val="2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30352" cy="530352"/>
          </a:xfrm>
          <a:prstGeom prst="ellipse">
            <a:avLst/>
          </a:prstGeom>
          <a:solidFill>
            <a:srgbClr val="EAF2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0" descr="icons/comments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2768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945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0175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Manager broadcasts every pending mission to all AGVs, once per tick.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005072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AGV replies with a bid U_i,k that implicitly reveals its own battery and workload.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992624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are shared implicitly through the occupancy grid the movement arbiter reads.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96A6">
                <a:alpha val="2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6537960" y="2148840"/>
            <a:ext cx="530352" cy="530352"/>
          </a:xfrm>
          <a:prstGeom prst="ellipse">
            <a:avLst/>
          </a:prstGeom>
          <a:solidFill>
            <a:srgbClr val="EAF2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1" descr="icons/handshak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227685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1945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Negotiation &amp; collaboration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30175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mission goes to the highest bidder; the manager only reports the argmax.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4005072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mission leaves the pool the instant it's accepted; no two AGVs chase the same job.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583680" y="4992624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carrier that runs flat releases its mission back to the pool for someone else.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62636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DF3E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5"/>
          <p:cNvSpPr/>
          <p:nvPr/>
        </p:nvSpPr>
        <p:spPr>
          <a:xfrm>
            <a:off x="777240" y="630936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5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 utility (identical in both strategies):   U_i,k = −w_d D_i,k + w_b B_i − w_l L_i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COORDINATION PARADIGM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control vs. independent agents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41248" y="20116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(CHOSEN)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77440"/>
            <a:ext cx="4809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AGV keeps its own 288 state Q table, updated only from its own experience: no shared parameters, no central critic.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" y="3291840"/>
            <a:ext cx="1051560" cy="1051560"/>
          </a:xfrm>
          <a:prstGeom prst="roundRect">
            <a:avLst>
              <a:gd name="adj" fmla="val 6087"/>
            </a:avLst>
          </a:prstGeom>
          <a:solidFill>
            <a:srgbClr val="2A365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41248" y="34015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37947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table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84732" y="406908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2048256" y="3291840"/>
            <a:ext cx="1051560" cy="1051560"/>
          </a:xfrm>
          <a:prstGeom prst="roundRect">
            <a:avLst>
              <a:gd name="adj" fmla="val 6087"/>
            </a:avLst>
          </a:prstGeom>
          <a:solidFill>
            <a:srgbClr val="2A365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2048256" y="34015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48256" y="37947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table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91740" y="406908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255264" y="3291840"/>
            <a:ext cx="1051560" cy="1051560"/>
          </a:xfrm>
          <a:prstGeom prst="roundRect">
            <a:avLst>
              <a:gd name="adj" fmla="val 6087"/>
            </a:avLst>
          </a:prstGeom>
          <a:solidFill>
            <a:srgbClr val="2A365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255264" y="34015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55264" y="37947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table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98748" y="406908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4462272" y="3291840"/>
            <a:ext cx="1051560" cy="1051560"/>
          </a:xfrm>
          <a:prstGeom prst="roundRect">
            <a:avLst>
              <a:gd name="adj" fmla="val 6087"/>
            </a:avLst>
          </a:prstGeom>
          <a:solidFill>
            <a:srgbClr val="2A365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462272" y="34015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62272" y="37947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table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05756" y="406908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 txBox="1"/>
          <p:nvPr/>
        </p:nvSpPr>
        <p:spPr>
          <a:xfrm>
            <a:off x="841248" y="4572000"/>
            <a:ext cx="4809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nonstationarity, while AGV 1 learns, AGV 2's behaviour keeps changing underneath it, which is the honest multi agent setting (agents are autonomous, not one controller in four bodies).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783080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F3D4D6"/>
            </a:solidFill>
            <a:prstDash val="solid"/>
          </a:ln>
          <a:effectLst>
            <a:outerShdw blurRad="76200" dist="25400" dir="5400000" algn="bl" rotWithShape="0">
              <a:srgbClr val="8896A6">
                <a:alpha val="2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510528" y="20116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CONTROL (NOT USED)</a:t>
            </a:r>
            <a:endParaRPr lang="en-US" sz="1200" dirty="0"/>
          </a:p>
        </p:txBody>
      </p:sp>
      <p:pic>
        <p:nvPicPr>
          <p:cNvPr id="26" name="Image 0" descr="icons/x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487168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876288" y="242316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joint policy over the fleet needs 288⁴ ≈ 6.88 billion states, against 288 per agent kept independent: out of reach for tabular Q learning.</a:t>
            </a:r>
            <a:endParaRPr lang="en-US" sz="1150" dirty="0"/>
          </a:p>
        </p:txBody>
      </p:sp>
      <p:pic>
        <p:nvPicPr>
          <p:cNvPr id="28" name="Image 1" descr="icons/x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3657600"/>
            <a:ext cx="237744" cy="237744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6876288" y="3593592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controller ingesting the full fleet state every tick becomes a communication bottleneck and a single point of failure: the opposite of this fleet's auction design.</a:t>
            </a:r>
            <a:endParaRPr lang="en-US" sz="1150" dirty="0"/>
          </a:p>
        </p:txBody>
      </p:sp>
      <p:pic>
        <p:nvPicPr>
          <p:cNvPr id="30" name="Image 2" descr="icons/x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4828032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876288" y="4764024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5th AGV would multiply the joint state space by another 288×; an independent table instead just adds one more compact 1,152 entry table.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EXPERIMENTAL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Decentralized learning, tested fairly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41248" y="20116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Q LEARNING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77440"/>
            <a:ext cx="48097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AGV owns a separate Q table, updated only from its own experience: no shared parameters, no central critic.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" y="3291840"/>
            <a:ext cx="1051560" cy="1051560"/>
          </a:xfrm>
          <a:prstGeom prst="roundRect">
            <a:avLst>
              <a:gd name="adj" fmla="val 6087"/>
            </a:avLst>
          </a:prstGeom>
          <a:solidFill>
            <a:srgbClr val="2A365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41248" y="34015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37947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table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84732" y="406908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2048256" y="3291840"/>
            <a:ext cx="1051560" cy="1051560"/>
          </a:xfrm>
          <a:prstGeom prst="roundRect">
            <a:avLst>
              <a:gd name="adj" fmla="val 6087"/>
            </a:avLst>
          </a:prstGeom>
          <a:solidFill>
            <a:srgbClr val="2A365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2048256" y="34015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48256" y="37947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table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91740" y="406908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255264" y="3291840"/>
            <a:ext cx="1051560" cy="1051560"/>
          </a:xfrm>
          <a:prstGeom prst="roundRect">
            <a:avLst>
              <a:gd name="adj" fmla="val 6087"/>
            </a:avLst>
          </a:prstGeom>
          <a:solidFill>
            <a:srgbClr val="2A365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255264" y="34015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55264" y="37947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table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98748" y="406908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4462272" y="3291840"/>
            <a:ext cx="1051560" cy="1051560"/>
          </a:xfrm>
          <a:prstGeom prst="roundRect">
            <a:avLst>
              <a:gd name="adj" fmla="val 6087"/>
            </a:avLst>
          </a:prstGeom>
          <a:solidFill>
            <a:srgbClr val="2A365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462272" y="34015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62272" y="37947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table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05756" y="406908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 txBox="1"/>
          <p:nvPr/>
        </p:nvSpPr>
        <p:spPr>
          <a:xfrm>
            <a:off x="841248" y="4572000"/>
            <a:ext cx="4809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nonstationarity, while AGV 1 learns, AGV 2's behaviour keeps changing underneath it, which is the honest multi agent setting (agents are autonomous, not one controller in four bodies).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783080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8896A6">
                <a:alpha val="2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510528" y="20116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BASELINE VS PROPOSED TEST</a:t>
            </a:r>
            <a:endParaRPr lang="en-US" sz="1200" dirty="0"/>
          </a:p>
        </p:txBody>
      </p:sp>
      <p:pic>
        <p:nvPicPr>
          <p:cNvPr id="26" name="Image 0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487168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876288" y="242316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world timeline pregenerated from the scenario seed (orders, pedestrians, closures, initial batteries) before either strategy runs.</a:t>
            </a:r>
            <a:endParaRPr lang="en-US" sz="1150" dirty="0"/>
          </a:p>
        </p:txBody>
      </p:sp>
      <p:pic>
        <p:nvPicPr>
          <p:cNvPr id="28" name="Image 1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3657600"/>
            <a:ext cx="237744" cy="237744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6876288" y="3593592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Reverified field by field on 10 seeds: order streams, per tick pedestrian positions, closed cells, initial batteries, 0 / 10 differing worlds.</a:t>
            </a:r>
            <a:endParaRPr lang="en-US" sz="1150" dirty="0"/>
          </a:p>
        </p:txBody>
      </p:sp>
      <p:pic>
        <p:nvPicPr>
          <p:cNvPr id="30" name="Image 2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828032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876288" y="4764024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seeds (10000+) are disjoint from the 20 evaluation seeds (0 to 19): results measure generalisation, not memorisation.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Q-Learning Converges Over Training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 across 1,000 training episodes (window = 40)</a:t>
            </a:r>
            <a:endParaRPr lang="en-US" sz="1400" dirty="0"/>
          </a:p>
        </p:txBody>
      </p:sp>
      <p:pic>
        <p:nvPicPr>
          <p:cNvPr id="4" name="Image 0" descr="/home/claude/slide/chart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1325880"/>
            <a:ext cx="10972800" cy="22780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923950"/>
            <a:ext cx="3544824" cy="2522570"/>
          </a:xfrm>
          <a:prstGeom prst="roundRect">
            <a:avLst>
              <a:gd name="adj" fmla="val 4350"/>
            </a:avLst>
          </a:prstGeom>
          <a:solidFill>
            <a:srgbClr val="EAF3F5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 txBox="1"/>
          <p:nvPr/>
        </p:nvSpPr>
        <p:spPr>
          <a:xfrm>
            <a:off x="685800" y="4106830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545742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~3.6 → ~4.8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130958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423566"/>
            <a:ext cx="3087624" cy="96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completed per 100 ticks steadily rises as the policy learns.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2064" y="3923950"/>
            <a:ext cx="3544824" cy="2522570"/>
          </a:xfrm>
          <a:prstGeom prst="roundRect">
            <a:avLst>
              <a:gd name="adj" fmla="val 4350"/>
            </a:avLst>
          </a:prstGeom>
          <a:solidFill>
            <a:srgbClr val="FBECEE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 txBox="1"/>
          <p:nvPr/>
        </p:nvSpPr>
        <p:spPr>
          <a:xfrm>
            <a:off x="4550664" y="4106830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1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550664" y="4545742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14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 → ~2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4550664" y="5130958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Run-flat events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550664" y="5423566"/>
            <a:ext cx="3087624" cy="96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Battery-stranding incidents per episode drop as charging timing improves.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86928" y="3923950"/>
            <a:ext cx="3544824" cy="2522570"/>
          </a:xfrm>
          <a:prstGeom prst="roundRect">
            <a:avLst>
              <a:gd name="adj" fmla="val 4350"/>
            </a:avLst>
          </a:prstGeom>
          <a:solidFill>
            <a:srgbClr val="F0EEF6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 txBox="1"/>
          <p:nvPr/>
        </p:nvSpPr>
        <p:spPr>
          <a:xfrm>
            <a:off x="8415528" y="4106830"/>
            <a:ext cx="3087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C6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415528" y="4545742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6C6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 → 0.05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8415528" y="5130958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rate ε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415528" y="5423566"/>
            <a:ext cx="3087624" cy="96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Decays toward a near-greedy policy as the agents stop exploring.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20 PAIRED EVALUATION SHIFTS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on throughput, mission time, distance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run flat events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73152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82880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63500" dist="25400" dir="5400000" algn="bl" rotWithShape="0">
              <a:srgbClr val="8896A6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832104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+28.2%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321040" y="23957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138160" y="288036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63500" dist="25400" dir="5400000" algn="bl" rotWithShape="0">
              <a:srgbClr val="8896A6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8321040" y="2971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−32.9%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321040" y="34472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38160" y="393192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63500" dist="25400" dir="5400000" algn="bl" rotWithShape="0">
              <a:srgbClr val="8896A6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832104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−60.9%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321040" y="44988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flat events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138160" y="498348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63500" dist="25400" dir="5400000" algn="bl" rotWithShape="0">
              <a:srgbClr val="8896A6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8321040" y="5074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−21.6%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321040" y="55504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/ mission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6080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seeds won: 15 to 20 / 20 across the four metrics above.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THE HONEST PICTURE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gains come with two measured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tradeoffs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F0E4CE"/>
            </a:solidFill>
            <a:prstDash val="solid"/>
          </a:ln>
          <a:effectLst>
            <a:outerShdw blurRad="63500" dist="25400" dir="5400000" algn="bl" rotWithShape="0">
              <a:srgbClr val="8896A6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2296" cy="30632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68680" y="203911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Utilisation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963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69.05% → 66.22%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−4.1%, only 6/20 seeds won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4612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fleet is busy less often, because it is doing less useless driving, not less useful work. Utilisation measures how busy the fleet is, not how much it delivers.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F0E4CE"/>
            </a:solidFill>
            <a:prstDash val="solid"/>
          </a:ln>
          <a:effectLst>
            <a:outerShdw blurRad="63500" dist="25400" dir="5400000" algn="bl" rotWithShape="0">
              <a:srgbClr val="8896A6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82296" cy="30632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583680" y="203911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Replanning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4963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63.4 → 75.3 BFS replans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0" y="28346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+18.8%, only 9/20 seeds won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24612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policy keeps AGVs circulating more, so they meet each other, pedestrians and closures more often: real compute/communication cost this sim doesn't charge for.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22960" y="5303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POLICY LEARNED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6418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25 to 50%, work pending, reserve negative  →  GO_CHARGE   (decline the mission that would strand it; this single rule drives most of the run flat reduction)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Parked, battery ≥75%, reserve comfortable  →  leaves early instead of always waiting for 100%   ·   Idle with empty queue  →  opportunistic top 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works, and we know exactly where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still falls short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AF6F3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5" name="Image 0" descr="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0195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78308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on the metrics the proposal set out to change, measured on 20 unseen paired scenarios, under verified byte identical conditions, with the metrics that worsened reported alongside the ones that improved.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63500" dist="25400" dir="5400000" algn="bl" rotWithShape="0">
              <a:srgbClr val="8896A6">
                <a:alpha val="1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LIMITATIONS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832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288 state grid; battery cutoffs at 25/50/75% are arbitrary.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005072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AGVs pick a mission type, not a specific mission; the auction resolves the rest.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626864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learning is nonstationary by construction; convergence stays noisy.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248656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mid mission retasking, even if a much better mission appears.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278892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6537960" y="29718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537960" y="3383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33832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on a specific mission via function approximation (DQN).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37960" y="4005072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400507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each round's assignment jointly with the Hungarian algorithm.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37960" y="4626864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462686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 route reservations to deconflict before AGVs meet.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37960" y="5248656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524865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bid weights by search; allow charger reservation and retasking.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383280"/>
            <a:ext cx="274320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TOOLS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Watkins, C.J.C.H. &amp; Dayan, P. (1992). Q Learning. Machine Learning, 8, 279 to 292.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805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Sutton, R.S. &amp; Barto, A.G. (2018). Reinforcement Learning: An Introduction (2nd ed.), MIT Press.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AgentPy documentation: agent based modelling framework used for the simulation.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2120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Integrative Challenge M3 baseline implementation: e80 Group logistics scenario.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1707</Words>
  <Application>Microsoft Office PowerPoint</Application>
  <PresentationFormat>Panorámica</PresentationFormat>
  <Paragraphs>230</Paragraphs>
  <Slides>14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Duziel Monárrez García</cp:lastModifiedBy>
  <cp:revision>3</cp:revision>
  <dcterms:created xsi:type="dcterms:W3CDTF">2026-09-09T02:27:41Z</dcterms:created>
  <dcterms:modified xsi:type="dcterms:W3CDTF">2026-09-13T03:32:58Z</dcterms:modified>
</cp:coreProperties>
</file>